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c2b1a82d-3b84-6af1-13d1-27f623f009f8}">
          <p14:sldIdLst>
            <p14:sldId id="256"/>
            <p14:sldId id="257"/>
            <p14:sldId id="258"/>
          </p14:sldIdLst>
        </p14:section>
        <p14:section name="Le besoin" id="{2334e42a-519b-34cd-4d4f-b77eb8e0e212}">
          <p14:sldIdLst>
            <p14:sldId id="259"/>
            <p14:sldId id="260"/>
          </p14:sldIdLst>
        </p14:section>
        <p14:section name="La promesse" id="{174acb36-4f33-0cf5-4d6f-bda81e7b1bbe}">
          <p14:sldIdLst>
            <p14:sldId id="261"/>
          </p14:sldIdLst>
        </p14:section>
        <p14:section name="La formation" id="{0f2f0312-e0a0-2114-ddfd-1f5cf3635b09}">
          <p14:sldIdLst>
            <p14:sldId id="262"/>
          </p14:sldIdLst>
        </p14:section>
        <p14:section name="Le contenu" id="{812c32ce-6f41-4183-ecdd-2089a36b46b2}">
          <p14:sldIdLst>
            <p14:sldId id="263"/>
            <p14:sldId id="264"/>
          </p14:sldIdLst>
        </p14:section>
        <p14:section name="Les livrables" id="{b921d9d4-c454-e7d8-1ffd-9390129f69da}">
          <p14:sldIdLst>
            <p14:sldId id="265"/>
            <p14:sldId id="266"/>
          </p14:sldIdLst>
        </p14:section>
        <p14:section name="Les coulisses" id="{d44738c2-8b8e-18ec-fe0c-ea7234bcef5d}">
          <p14:sldIdLst>
            <p14:sldId id="267"/>
          </p14:sldIdLst>
        </p14:section>
        <p14:section name="Clôture" id="{a588b46c-ffed-5359-4df9-13c2e64250f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Couverture : titre, accroche, prénom, image de couverture du Visual Identity Kit (recadrée sur le visuel principal).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 réservé à l'avatar : remplace l'image par la vidéo de ton avatar (Insertion &gt; Vidéo). Passage pour l'avatar (extrait de ton support) :
« Le prompt, c'est le message que vous écrivez à l'IA pour lui demander quelque chose. Un prompt clair a 4 éléments : le rôle, le contexte, la tâche et le format. Prenons un exemple : vous voulez résumer un cours. Premier élément : le rôle. C'est ce qui dit à l'IA qui elle doit être pour répondre. Ici : « Tu es un tuteur patient ». Deuxième élément : le contexte. Ce sont les informations utiles sur votre situation. Troisième élément : la tâche. C'est ce que l'IA doit faire. Quatrième élément : le format. C'est la forme que doit avoir la réponse. Retenez-les dans cet ordre : rôle, contexte, tâche, format.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Constats tirés du persona : l'étudiant a déjà utilisé une IA avec des questions courtes, mais ne sait pas quelles informations donner, ni pourquoi ses résultats sont tantôt bons, tantôt à côté.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général, volontairement non lié à une filière. L'âge est indicatif (non précisé dans ton support) : à ajuster si besoin.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objectifs mesurables, du plus simple au plus complexe. Verbes d'action observables : identifier, comparer, rédiger.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Extrait du module 1 (support de l'apprenant). Les couleurs reprennent celles du Visual Identity Kit : violet = rôle, vert = contexte, orange = tâche, bleu =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Extraits du support de l'apprenant : exercice du module 1 (prompt 2), grille de 4 cases du module 3 et liste de contrôle.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Vidéo intégrée (mp4, 65 s). Lecture dans PowerPoint ; sur Keynote/Google Slides, relie plutôt la vidéo via un lien. La mention « générée avec l'IA » reste visible au-dessus de la vidéo.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Palette échantillonnée sur le Visual Identity Kit (couverture et visuel du module 2). Une couleur par élément du prompt : violet = rôle, vert = contexte, orange = tâche, bleu =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compléter : noms exacts des outils d'avatar/de secours, et un ou deux exemples de corrections tirés de ton journal de prompts. Les lignes CHECK du script portent sur : l'origine des écarts de réponse, l'élément manquant, les réponses réellement obtenues aux démos, l'utilité de la grille et l'effet de l'ajustement (à nuancer).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Remplace [lien vers la formation publiée] par l'URL réelle et ajuste la phrase de newsletter si ta version diffère (celle-ci est une proposition).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de couverture" descr="Image de couverture du Visual Identity Kit : une étudiante devant son ordinateur, avec les cartes Rôle, Contexte, Tâche, Form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0"/>
            <a:ext cx="5120640" cy="5143500"/>
          </a:xfrm>
          <a:prstGeom prst="rect">
            <a:avLst/>
          </a:prstGeom>
        </p:spPr>
      </p:pic>
      <p:sp>
        <p:nvSpPr>
          <p:cNvPr id="3" name="Surtitre"/>
          <p:cNvSpPr txBox="1"/>
          <p:nvPr/>
        </p:nvSpPr>
        <p:spPr>
          <a:xfrm>
            <a:off x="548640" y="502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DB4EB"/>
                </a:solidFill>
              </a:rPr>
              <a:t>MICRO-FORMATION · 15 MIN</a:t>
            </a:r>
            <a:endParaRPr lang="en-US" sz="1200" dirty="0"/>
          </a:p>
        </p:txBody>
      </p:sp>
      <p:sp>
        <p:nvSpPr>
          <p:cNvPr id="4" name="Titre de la formation"/>
          <p:cNvSpPr txBox="1"/>
          <p:nvPr/>
        </p:nvSpPr>
        <p:spPr>
          <a:xfrm>
            <a:off x="548640" y="9144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Écrire un bon prompt en 4 éléments</a:t>
            </a:r>
            <a:endParaRPr lang="en-US" sz="3400" dirty="0"/>
          </a:p>
        </p:txBody>
      </p:sp>
      <p:sp>
        <p:nvSpPr>
          <p:cNvPr id="5" name="Phrase d&amp;apos;accroche"/>
          <p:cNvSpPr txBox="1"/>
          <p:nvPr/>
        </p:nvSpPr>
        <p:spPr>
          <a:xfrm>
            <a:off x="548640" y="2788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D7FA"/>
                </a:solidFill>
              </a:rPr>
              <a:t>Rôle, contexte, tâche, format : donne à l'IA ce qu'il lui faut pour répondre vraiment à ta demande.</a:t>
            </a:r>
            <a:endParaRPr lang="en-US" sz="1600" dirty="0"/>
          </a:p>
        </p:txBody>
      </p:sp>
      <p:sp>
        <p:nvSpPr>
          <p:cNvPr id="6" name="Prénom"/>
          <p:cNvSpPr txBox="1"/>
          <p:nvPr/>
        </p:nvSpPr>
        <p:spPr>
          <a:xfrm>
            <a:off x="54864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4EB"/>
                </a:solidFill>
              </a:rPr>
              <a:t>Présenté par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Mélissa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te présente mon assistante IA</a:t>
            </a:r>
            <a:endParaRPr lang="en-US" sz="3400" dirty="0"/>
          </a:p>
        </p:txBody>
      </p:sp>
      <p:sp>
        <p:nvSpPr>
          <p:cNvPr id="3" name="Cadre avatar"/>
          <p:cNvSpPr/>
          <p:nvPr/>
        </p:nvSpPr>
        <p:spPr>
          <a:xfrm>
            <a:off x="457200" y="1188720"/>
            <a:ext cx="2651760" cy="3520440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 w="19050">
            <a:solidFill>
              <a:srgbClr val="6E60EF"/>
            </a:solidFill>
            <a:prstDash val="dash"/>
          </a:ln>
        </p:spPr>
      </p:sp>
      <p:pic>
        <p:nvPicPr>
          <p:cNvPr id="4" name="Avatar IA" descr="Avatar IA qui présente la form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325880"/>
            <a:ext cx="2377440" cy="3246120"/>
          </a:xfrm>
          <a:prstGeom prst="rect">
            <a:avLst/>
          </a:prstGeom>
        </p:spPr>
      </p:pic>
      <p:sp>
        <p:nvSpPr>
          <p:cNvPr id="5" name="Mention IA avatar"/>
          <p:cNvSpPr txBox="1"/>
          <p:nvPr/>
        </p:nvSpPr>
        <p:spPr>
          <a:xfrm>
            <a:off x="594360" y="4224528"/>
            <a:ext cx="2377440" cy="274320"/>
          </a:xfrm>
          <a:prstGeom prst="rect">
            <a:avLst/>
          </a:prstGeom>
          <a:solidFill>
            <a:srgbClr val="6E60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Avatar généré par IA</a:t>
            </a:r>
            <a:endParaRPr lang="en-US" sz="1100" dirty="0"/>
          </a:p>
        </p:txBody>
      </p:sp>
      <p:sp>
        <p:nvSpPr>
          <p:cNvPr id="6" name="Carte 1"/>
          <p:cNvSpPr/>
          <p:nvPr/>
        </p:nvSpPr>
        <p:spPr>
          <a:xfrm>
            <a:off x="3474720" y="118872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pic>
        <p:nvPicPr>
          <p:cNvPr id="7" name="Icône 1" descr="Un avatar qui introduit la for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08760"/>
            <a:ext cx="411480" cy="411480"/>
          </a:xfrm>
          <a:prstGeom prst="rect">
            <a:avLst/>
          </a:prstGeom>
        </p:spPr>
      </p:pic>
      <p:sp>
        <p:nvSpPr>
          <p:cNvPr id="8" name="Texte 1"/>
          <p:cNvSpPr txBox="1"/>
          <p:nvPr/>
        </p:nvSpPr>
        <p:spPr>
          <a:xfrm>
            <a:off x="4297680" y="126187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avatar qui introduit la formation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Il présente en quelques secondes l'idée clé : les 4 éléments d'un prompt.</a:t>
            </a:r>
            <a:endParaRPr lang="en-US" sz="1600" dirty="0"/>
          </a:p>
        </p:txBody>
      </p:sp>
      <p:sp>
        <p:nvSpPr>
          <p:cNvPr id="9" name="Carte 2"/>
          <p:cNvSpPr/>
          <p:nvPr/>
        </p:nvSpPr>
        <p:spPr>
          <a:xfrm>
            <a:off x="3474720" y="237744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pic>
        <p:nvPicPr>
          <p:cNvPr id="10" name="Icône 2" descr="Des outils d'IA, pilotés par mo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697480"/>
            <a:ext cx="411480" cy="411480"/>
          </a:xfrm>
          <a:prstGeom prst="rect">
            <a:avLst/>
          </a:prstGeom>
        </p:spPr>
      </p:pic>
      <p:sp>
        <p:nvSpPr>
          <p:cNvPr id="11" name="Texte 2"/>
          <p:cNvSpPr txBox="1"/>
          <p:nvPr/>
        </p:nvSpPr>
        <p:spPr>
          <a:xfrm>
            <a:off x="4297680" y="245059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 outils d'IA, pilotés par moi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ChatGPT pour les textes et le script, [outil d'avatar] pour l'avatar et la voix.</a:t>
            </a:r>
            <a:endParaRPr lang="en-US" sz="1600" dirty="0"/>
          </a:p>
        </p:txBody>
      </p:sp>
      <p:sp>
        <p:nvSpPr>
          <p:cNvPr id="12" name="Carte 3"/>
          <p:cNvSpPr/>
          <p:nvPr/>
        </p:nvSpPr>
        <p:spPr>
          <a:xfrm>
            <a:off x="3474720" y="356616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pic>
        <p:nvPicPr>
          <p:cNvPr id="13" name="Icône 3" descr="Tout est relu et vérifi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886200"/>
            <a:ext cx="411480" cy="411480"/>
          </a:xfrm>
          <a:prstGeom prst="rect">
            <a:avLst/>
          </a:prstGeom>
        </p:spPr>
      </p:pic>
      <p:sp>
        <p:nvSpPr>
          <p:cNvPr id="14" name="Texte 3"/>
          <p:cNvSpPr txBox="1"/>
          <p:nvPr/>
        </p:nvSpPr>
        <p:spPr>
          <a:xfrm>
            <a:off x="4297680" y="363931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Tout est relu et vérifié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Chaque affirmation du script a été contrôlée avant publication.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400" dirty="0"/>
          </a:p>
        </p:txBody>
      </p:sp>
      <p:sp>
        <p:nvSpPr>
          <p:cNvPr id="3" name="Carte sommaire 1"/>
          <p:cNvSpPr/>
          <p:nvPr/>
        </p:nvSpPr>
        <p:spPr>
          <a:xfrm>
            <a:off x="457200" y="12344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4" name="Pastille 1"/>
          <p:cNvSpPr/>
          <p:nvPr/>
        </p:nvSpPr>
        <p:spPr>
          <a:xfrm>
            <a:off x="621792" y="1508760"/>
            <a:ext cx="457200" cy="457200"/>
          </a:xfrm>
          <a:prstGeom prst="ellipse">
            <a:avLst/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62179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Libellé 1"/>
          <p:cNvSpPr txBox="1"/>
          <p:nvPr/>
        </p:nvSpPr>
        <p:spPr>
          <a:xfrm>
            <a:off x="118872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 problème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 qui coince</a:t>
            </a:r>
            <a:endParaRPr lang="en-US" sz="1500" dirty="0"/>
          </a:p>
        </p:txBody>
      </p:sp>
      <p:sp>
        <p:nvSpPr>
          <p:cNvPr id="7" name="Carte sommaire 2"/>
          <p:cNvSpPr/>
          <p:nvPr/>
        </p:nvSpPr>
        <p:spPr>
          <a:xfrm>
            <a:off x="3246120" y="12344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8" name="Pastille 2"/>
          <p:cNvSpPr/>
          <p:nvPr/>
        </p:nvSpPr>
        <p:spPr>
          <a:xfrm>
            <a:off x="3410712" y="1508760"/>
            <a:ext cx="457200" cy="457200"/>
          </a:xfrm>
          <a:prstGeom prst="ellipse">
            <a:avLst/>
          </a:prstGeom>
          <a:solidFill>
            <a:srgbClr val="269B84"/>
          </a:solidFill>
          <a:ln w="12700">
            <a:solidFill>
              <a:srgbClr val="269B84"/>
            </a:solidFill>
            <a:prstDash val="solid"/>
          </a:ln>
        </p:spPr>
      </p:sp>
      <p:sp>
        <p:nvSpPr>
          <p:cNvPr id="9" name="Numéro 2"/>
          <p:cNvSpPr txBox="1"/>
          <p:nvPr/>
        </p:nvSpPr>
        <p:spPr>
          <a:xfrm>
            <a:off x="341071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Libellé 2"/>
          <p:cNvSpPr txBox="1"/>
          <p:nvPr/>
        </p:nvSpPr>
        <p:spPr>
          <a:xfrm>
            <a:off x="397764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 persona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qui apprend</a:t>
            </a:r>
            <a:endParaRPr lang="en-US" sz="1500" dirty="0"/>
          </a:p>
        </p:txBody>
      </p:sp>
      <p:sp>
        <p:nvSpPr>
          <p:cNvPr id="11" name="Carte sommaire 3"/>
          <p:cNvSpPr/>
          <p:nvPr/>
        </p:nvSpPr>
        <p:spPr>
          <a:xfrm>
            <a:off x="6035040" y="12344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12" name="Pastille 3"/>
          <p:cNvSpPr/>
          <p:nvPr/>
        </p:nvSpPr>
        <p:spPr>
          <a:xfrm>
            <a:off x="6199632" y="1508760"/>
            <a:ext cx="457200" cy="457200"/>
          </a:xfrm>
          <a:prstGeom prst="ellipse">
            <a:avLst/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13" name="Numéro 3"/>
          <p:cNvSpPr txBox="1"/>
          <p:nvPr/>
        </p:nvSpPr>
        <p:spPr>
          <a:xfrm>
            <a:off x="619963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Libellé 3"/>
          <p:cNvSpPr txBox="1"/>
          <p:nvPr/>
        </p:nvSpPr>
        <p:spPr>
          <a:xfrm>
            <a:off x="676656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promesse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 objectifs</a:t>
            </a:r>
            <a:endParaRPr lang="en-US" sz="1500" dirty="0"/>
          </a:p>
        </p:txBody>
      </p:sp>
      <p:sp>
        <p:nvSpPr>
          <p:cNvPr id="15" name="Carte sommaire 4"/>
          <p:cNvSpPr/>
          <p:nvPr/>
        </p:nvSpPr>
        <p:spPr>
          <a:xfrm>
            <a:off x="457200" y="23774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16" name="Pastille 4"/>
          <p:cNvSpPr/>
          <p:nvPr/>
        </p:nvSpPr>
        <p:spPr>
          <a:xfrm>
            <a:off x="621792" y="2651760"/>
            <a:ext cx="457200" cy="457200"/>
          </a:xfrm>
          <a:prstGeom prst="ellipse">
            <a:avLst/>
          </a:prstGeom>
          <a:solidFill>
            <a:srgbClr val="269B84"/>
          </a:solidFill>
          <a:ln w="12700">
            <a:solidFill>
              <a:srgbClr val="269B84"/>
            </a:solidFill>
            <a:prstDash val="solid"/>
          </a:ln>
        </p:spPr>
      </p:sp>
      <p:sp>
        <p:nvSpPr>
          <p:cNvPr id="17" name="Numéro 4"/>
          <p:cNvSpPr txBox="1"/>
          <p:nvPr/>
        </p:nvSpPr>
        <p:spPr>
          <a:xfrm>
            <a:off x="62179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Libellé 4"/>
          <p:cNvSpPr txBox="1"/>
          <p:nvPr/>
        </p:nvSpPr>
        <p:spPr>
          <a:xfrm>
            <a:off x="118872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formation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 modules · 15 min</a:t>
            </a:r>
            <a:endParaRPr lang="en-US" sz="1500" dirty="0"/>
          </a:p>
        </p:txBody>
      </p:sp>
      <p:sp>
        <p:nvSpPr>
          <p:cNvPr id="19" name="Carte sommaire 5"/>
          <p:cNvSpPr/>
          <p:nvPr/>
        </p:nvSpPr>
        <p:spPr>
          <a:xfrm>
            <a:off x="3246120" y="23774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20" name="Pastille 5"/>
          <p:cNvSpPr/>
          <p:nvPr/>
        </p:nvSpPr>
        <p:spPr>
          <a:xfrm>
            <a:off x="3410712" y="2651760"/>
            <a:ext cx="457200" cy="457200"/>
          </a:xfrm>
          <a:prstGeom prst="ellipse">
            <a:avLst/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21" name="Numéro 5"/>
          <p:cNvSpPr txBox="1"/>
          <p:nvPr/>
        </p:nvSpPr>
        <p:spPr>
          <a:xfrm>
            <a:off x="341071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Libellé 5"/>
          <p:cNvSpPr txBox="1"/>
          <p:nvPr/>
        </p:nvSpPr>
        <p:spPr>
          <a:xfrm>
            <a:off x="397764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Aperçu du contenu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 extrait concret</a:t>
            </a:r>
            <a:endParaRPr lang="en-US" sz="1500" dirty="0"/>
          </a:p>
        </p:txBody>
      </p:sp>
      <p:sp>
        <p:nvSpPr>
          <p:cNvPr id="23" name="Carte sommaire 6"/>
          <p:cNvSpPr/>
          <p:nvPr/>
        </p:nvSpPr>
        <p:spPr>
          <a:xfrm>
            <a:off x="6035040" y="23774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24" name="Pastille 6"/>
          <p:cNvSpPr/>
          <p:nvPr/>
        </p:nvSpPr>
        <p:spPr>
          <a:xfrm>
            <a:off x="6199632" y="2651760"/>
            <a:ext cx="457200" cy="457200"/>
          </a:xfrm>
          <a:prstGeom prst="ellipse">
            <a:avLst/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sp>
        <p:nvSpPr>
          <p:cNvPr id="25" name="Numéro 6"/>
          <p:cNvSpPr txBox="1"/>
          <p:nvPr/>
        </p:nvSpPr>
        <p:spPr>
          <a:xfrm>
            <a:off x="619963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Libellé 6"/>
          <p:cNvSpPr txBox="1"/>
          <p:nvPr/>
        </p:nvSpPr>
        <p:spPr>
          <a:xfrm>
            <a:off x="676656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vidéo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la leçon en 65 s</a:t>
            </a:r>
            <a:endParaRPr lang="en-US" sz="1500" dirty="0"/>
          </a:p>
        </p:txBody>
      </p:sp>
      <p:sp>
        <p:nvSpPr>
          <p:cNvPr id="27" name="Carte sommaire 7"/>
          <p:cNvSpPr/>
          <p:nvPr/>
        </p:nvSpPr>
        <p:spPr>
          <a:xfrm>
            <a:off x="457200" y="35204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28" name="Pastille 7"/>
          <p:cNvSpPr/>
          <p:nvPr/>
        </p:nvSpPr>
        <p:spPr>
          <a:xfrm>
            <a:off x="621792" y="3794760"/>
            <a:ext cx="457200" cy="457200"/>
          </a:xfrm>
          <a:prstGeom prst="ellipse">
            <a:avLst/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29" name="Numéro 7"/>
          <p:cNvSpPr txBox="1"/>
          <p:nvPr/>
        </p:nvSpPr>
        <p:spPr>
          <a:xfrm>
            <a:off x="62179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Libellé 7"/>
          <p:cNvSpPr txBox="1"/>
          <p:nvPr/>
        </p:nvSpPr>
        <p:spPr>
          <a:xfrm>
            <a:off x="118872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L'identité visuelle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palette et style</a:t>
            </a:r>
            <a:endParaRPr lang="en-US" sz="1500" dirty="0"/>
          </a:p>
        </p:txBody>
      </p:sp>
      <p:sp>
        <p:nvSpPr>
          <p:cNvPr id="31" name="Carte sommaire 8"/>
          <p:cNvSpPr/>
          <p:nvPr/>
        </p:nvSpPr>
        <p:spPr>
          <a:xfrm>
            <a:off x="3246120" y="35204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32" name="Pastille 8"/>
          <p:cNvSpPr/>
          <p:nvPr/>
        </p:nvSpPr>
        <p:spPr>
          <a:xfrm>
            <a:off x="3410712" y="3794760"/>
            <a:ext cx="457200" cy="457200"/>
          </a:xfrm>
          <a:prstGeom prst="ellipse">
            <a:avLst/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sp>
        <p:nvSpPr>
          <p:cNvPr id="33" name="Numéro 8"/>
          <p:cNvSpPr txBox="1"/>
          <p:nvPr/>
        </p:nvSpPr>
        <p:spPr>
          <a:xfrm>
            <a:off x="341071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Libellé 8"/>
          <p:cNvSpPr txBox="1"/>
          <p:nvPr/>
        </p:nvSpPr>
        <p:spPr>
          <a:xfrm>
            <a:off x="397764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L'IA dans le projet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outils et vérifications</a:t>
            </a:r>
            <a:endParaRPr lang="en-US" sz="1500" dirty="0"/>
          </a:p>
        </p:txBody>
      </p:sp>
      <p:sp>
        <p:nvSpPr>
          <p:cNvPr id="35" name="Carte sommaire 9"/>
          <p:cNvSpPr/>
          <p:nvPr/>
        </p:nvSpPr>
        <p:spPr>
          <a:xfrm>
            <a:off x="6035040" y="35204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36" name="Pastille 9"/>
          <p:cNvSpPr/>
          <p:nvPr/>
        </p:nvSpPr>
        <p:spPr>
          <a:xfrm>
            <a:off x="6199632" y="3794760"/>
            <a:ext cx="457200" cy="457200"/>
          </a:xfrm>
          <a:prstGeom prst="ellipse">
            <a:avLst/>
          </a:prstGeom>
          <a:solidFill>
            <a:srgbClr val="269B84"/>
          </a:solidFill>
          <a:ln w="12700">
            <a:solidFill>
              <a:srgbClr val="269B84"/>
            </a:solidFill>
            <a:prstDash val="solid"/>
          </a:ln>
        </p:spPr>
      </p:sp>
      <p:sp>
        <p:nvSpPr>
          <p:cNvPr id="37" name="Numéro 9"/>
          <p:cNvSpPr txBox="1"/>
          <p:nvPr/>
        </p:nvSpPr>
        <p:spPr>
          <a:xfrm>
            <a:off x="619963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38" name="Libellé 9"/>
          <p:cNvSpPr txBox="1"/>
          <p:nvPr/>
        </p:nvSpPr>
        <p:spPr>
          <a:xfrm>
            <a:off x="676656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Passez à l'action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lien et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formation existe</a:t>
            </a:r>
            <a:endParaRPr lang="en-US" sz="3400" dirty="0"/>
          </a:p>
        </p:txBody>
      </p:sp>
      <p:sp>
        <p:nvSpPr>
          <p:cNvPr id="3" name="Constat 1"/>
          <p:cNvSpPr/>
          <p:nvPr/>
        </p:nvSpPr>
        <p:spPr>
          <a:xfrm>
            <a:off x="457200" y="1280160"/>
            <a:ext cx="26517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pic>
        <p:nvPicPr>
          <p:cNvPr id="4" name="Icône constat 1" descr="Des réponses tantôt bonnes, tantôt à côt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457200" cy="457200"/>
          </a:xfrm>
          <a:prstGeom prst="rect">
            <a:avLst/>
          </a:prstGeom>
        </p:spPr>
      </p:pic>
      <p:sp>
        <p:nvSpPr>
          <p:cNvPr id="5" name="Titre constat 1"/>
          <p:cNvSpPr txBox="1"/>
          <p:nvPr/>
        </p:nvSpPr>
        <p:spPr>
          <a:xfrm>
            <a:off x="685800" y="2057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 réponses tantôt bonnes, tantôt à côté</a:t>
            </a:r>
            <a:endParaRPr lang="en-US" sz="1600" dirty="0"/>
          </a:p>
        </p:txBody>
      </p:sp>
      <p:sp>
        <p:nvSpPr>
          <p:cNvPr id="6" name="Texte constat 1"/>
          <p:cNvSpPr txBox="1"/>
          <p:nvPr/>
        </p:nvSpPr>
        <p:spPr>
          <a:xfrm>
            <a:off x="685800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 pose une question courte à l'IA, et le résultat change d'un essai à l'autre.</a:t>
            </a:r>
            <a:endParaRPr lang="en-US" sz="1400" dirty="0"/>
          </a:p>
        </p:txBody>
      </p:sp>
      <p:sp>
        <p:nvSpPr>
          <p:cNvPr id="7" name="Constat 2"/>
          <p:cNvSpPr/>
          <p:nvPr/>
        </p:nvSpPr>
        <p:spPr>
          <a:xfrm>
            <a:off x="3246120" y="1280160"/>
            <a:ext cx="26517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pic>
        <p:nvPicPr>
          <p:cNvPr id="8" name="Icône constat 2" descr="On ne sait pas quoi lui di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08760"/>
            <a:ext cx="457200" cy="457200"/>
          </a:xfrm>
          <a:prstGeom prst="rect">
            <a:avLst/>
          </a:prstGeom>
        </p:spPr>
      </p:pic>
      <p:sp>
        <p:nvSpPr>
          <p:cNvPr id="9" name="Titre constat 2"/>
          <p:cNvSpPr txBox="1"/>
          <p:nvPr/>
        </p:nvSpPr>
        <p:spPr>
          <a:xfrm>
            <a:off x="3474720" y="2057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 ne sait pas quoi lui dire</a:t>
            </a:r>
            <a:endParaRPr lang="en-US" sz="1600" dirty="0"/>
          </a:p>
        </p:txBody>
      </p:sp>
      <p:sp>
        <p:nvSpPr>
          <p:cNvPr id="10" name="Texte constat 2"/>
          <p:cNvSpPr txBox="1"/>
          <p:nvPr/>
        </p:nvSpPr>
        <p:spPr>
          <a:xfrm>
            <a:off x="3474720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Rôle, situation, forme attendue : quelles informations donner pour être compris ?</a:t>
            </a:r>
            <a:endParaRPr lang="en-US" sz="1400" dirty="0"/>
          </a:p>
        </p:txBody>
      </p:sp>
      <p:sp>
        <p:nvSpPr>
          <p:cNvPr id="11" name="Constat 3"/>
          <p:cNvSpPr/>
          <p:nvPr/>
        </p:nvSpPr>
        <p:spPr>
          <a:xfrm>
            <a:off x="6035040" y="1280160"/>
            <a:ext cx="26517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pic>
        <p:nvPicPr>
          <p:cNvPr id="12" name="Icône constat 3" descr="On ne sait pas pourquoi ça r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457200" cy="457200"/>
          </a:xfrm>
          <a:prstGeom prst="rect">
            <a:avLst/>
          </a:prstGeom>
        </p:spPr>
      </p:pic>
      <p:sp>
        <p:nvSpPr>
          <p:cNvPr id="13" name="Titre constat 3"/>
          <p:cNvSpPr txBox="1"/>
          <p:nvPr/>
        </p:nvSpPr>
        <p:spPr>
          <a:xfrm>
            <a:off x="6263640" y="2057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 ne sait pas pourquoi ça rate</a:t>
            </a:r>
            <a:endParaRPr lang="en-US" sz="1600" dirty="0"/>
          </a:p>
        </p:txBody>
      </p:sp>
      <p:sp>
        <p:nvSpPr>
          <p:cNvPr id="14" name="Texte constat 3"/>
          <p:cNvSpPr txBox="1"/>
          <p:nvPr/>
        </p:nvSpPr>
        <p:spPr>
          <a:xfrm>
            <a:off x="6263640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Sans méthode, impossible de savoir quoi corriger dans son message.</a:t>
            </a:r>
            <a:endParaRPr lang="en-US" sz="1400" dirty="0"/>
          </a:p>
        </p:txBody>
      </p:sp>
      <p:sp>
        <p:nvSpPr>
          <p:cNvPr id="15" name="Bandeau exemple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Exemple prompt court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DB4EB"/>
                </a:solidFill>
              </a:rPr>
              <a:t>Exemple : 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« Résume ce cours. »</a:t>
            </a:r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</a:rPr>
              <a:t>  →  réponse vague, peu adaptée à ta situation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: Sam, étudiant à l'université</a:t>
            </a:r>
            <a:endParaRPr lang="en-US" sz="3400" dirty="0"/>
          </a:p>
        </p:txBody>
      </p:sp>
      <p:sp>
        <p:nvSpPr>
          <p:cNvPr id="3" name="Carte identité Sam"/>
          <p:cNvSpPr/>
          <p:nvPr/>
        </p:nvSpPr>
        <p:spPr>
          <a:xfrm>
            <a:off x="457200" y="1280160"/>
            <a:ext cx="2377440" cy="3291840"/>
          </a:xfrm>
          <a:prstGeom prst="roundRect">
            <a:avLst>
              <a:gd name="adj" fmla="val 5769"/>
            </a:avLst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sp>
        <p:nvSpPr>
          <p:cNvPr id="4" name="Portrait Sam cercle"/>
          <p:cNvSpPr/>
          <p:nvPr/>
        </p:nvSpPr>
        <p:spPr>
          <a:xfrm>
            <a:off x="123444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Portrait Sam" descr="Portrait S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1760220"/>
            <a:ext cx="411480" cy="411480"/>
          </a:xfrm>
          <a:prstGeom prst="rect">
            <a:avLst/>
          </a:prstGeom>
        </p:spPr>
      </p:pic>
      <p:sp>
        <p:nvSpPr>
          <p:cNvPr id="6" name="Identité Sam"/>
          <p:cNvSpPr txBox="1"/>
          <p:nvPr/>
        </p:nvSpPr>
        <p:spPr>
          <a:xfrm>
            <a:off x="594360" y="2514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Sam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4E0FA"/>
                </a:solidFill>
              </a:rPr>
              <a:t>Étudiant à l'université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4E0FA"/>
                </a:solidFill>
              </a:rPr>
              <a:t>Tous niveaux, toutes filières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4E0FA"/>
                </a:solidFill>
              </a:rPr>
              <a:t>Âge indicatif : 18-25 ans</a:t>
            </a:r>
            <a:endParaRPr lang="en-US" sz="2400" dirty="0"/>
          </a:p>
        </p:txBody>
      </p:sp>
      <p:sp>
        <p:nvSpPr>
          <p:cNvPr id="7" name="Ligne persona 1"/>
          <p:cNvSpPr/>
          <p:nvPr/>
        </p:nvSpPr>
        <p:spPr>
          <a:xfrm>
            <a:off x="3108960" y="128016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</p:spPr>
      </p:sp>
      <p:sp>
        <p:nvSpPr>
          <p:cNvPr id="8" name="Étiquette 1"/>
          <p:cNvSpPr txBox="1"/>
          <p:nvPr/>
        </p:nvSpPr>
        <p:spPr>
          <a:xfrm>
            <a:off x="3291840" y="1280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0EF"/>
                </a:solidFill>
              </a:rPr>
              <a:t>Situation</a:t>
            </a:r>
            <a:endParaRPr lang="en-US" sz="1400" dirty="0"/>
          </a:p>
        </p:txBody>
      </p:sp>
      <p:sp>
        <p:nvSpPr>
          <p:cNvPr id="9" name="Valeur 1"/>
          <p:cNvSpPr txBox="1"/>
          <p:nvPr/>
        </p:nvSpPr>
        <p:spPr>
          <a:xfrm>
            <a:off x="4389120" y="1280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Rédige, résume et explique des idées pour ses cours et son quotidien.</a:t>
            </a:r>
            <a:endParaRPr lang="en-US" sz="1400" dirty="0"/>
          </a:p>
        </p:txBody>
      </p:sp>
      <p:sp>
        <p:nvSpPr>
          <p:cNvPr id="10" name="Ligne persona 2"/>
          <p:cNvSpPr/>
          <p:nvPr/>
        </p:nvSpPr>
        <p:spPr>
          <a:xfrm>
            <a:off x="3108960" y="2130552"/>
            <a:ext cx="55778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E4E0FA"/>
            </a:solidFill>
            <a:prstDash val="solid"/>
          </a:ln>
        </p:spPr>
      </p:sp>
      <p:sp>
        <p:nvSpPr>
          <p:cNvPr id="11" name="Étiquette 2"/>
          <p:cNvSpPr txBox="1"/>
          <p:nvPr/>
        </p:nvSpPr>
        <p:spPr>
          <a:xfrm>
            <a:off x="3291840" y="213055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0EF"/>
                </a:solidFill>
              </a:rPr>
              <a:t>Acquis</a:t>
            </a:r>
            <a:endParaRPr lang="en-US" sz="1400" dirty="0"/>
          </a:p>
        </p:txBody>
      </p:sp>
      <p:sp>
        <p:nvSpPr>
          <p:cNvPr id="12" name="Valeur 2"/>
          <p:cNvSpPr txBox="1"/>
          <p:nvPr/>
        </p:nvSpPr>
        <p:spPr>
          <a:xfrm>
            <a:off x="4389120" y="213055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déjà utilisé une IA, avec des questions courtes.</a:t>
            </a:r>
            <a:endParaRPr lang="en-US" sz="1400" dirty="0"/>
          </a:p>
        </p:txBody>
      </p:sp>
      <p:sp>
        <p:nvSpPr>
          <p:cNvPr id="13" name="Ligne persona 3"/>
          <p:cNvSpPr/>
          <p:nvPr/>
        </p:nvSpPr>
        <p:spPr>
          <a:xfrm>
            <a:off x="3108960" y="2980944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</p:spPr>
      </p:sp>
      <p:sp>
        <p:nvSpPr>
          <p:cNvPr id="14" name="Étiquette 3"/>
          <p:cNvSpPr txBox="1"/>
          <p:nvPr/>
        </p:nvSpPr>
        <p:spPr>
          <a:xfrm>
            <a:off x="3291840" y="298094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0EF"/>
                </a:solidFill>
              </a:rPr>
              <a:t>Barrière</a:t>
            </a:r>
            <a:endParaRPr lang="en-US" sz="1400" dirty="0"/>
          </a:p>
        </p:txBody>
      </p:sp>
      <p:sp>
        <p:nvSpPr>
          <p:cNvPr id="15" name="Valeur 3"/>
          <p:cNvSpPr txBox="1"/>
          <p:nvPr/>
        </p:nvSpPr>
        <p:spPr>
          <a:xfrm>
            <a:off x="4389120" y="29809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 sait pas quelles informations donner, ni pourquoi les résultats varient.</a:t>
            </a:r>
            <a:endParaRPr lang="en-US" sz="1400" dirty="0"/>
          </a:p>
        </p:txBody>
      </p:sp>
      <p:sp>
        <p:nvSpPr>
          <p:cNvPr id="16" name="Ligne persona 4"/>
          <p:cNvSpPr/>
          <p:nvPr/>
        </p:nvSpPr>
        <p:spPr>
          <a:xfrm>
            <a:off x="3108960" y="3831336"/>
            <a:ext cx="55778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E4E0FA"/>
            </a:solidFill>
            <a:prstDash val="solid"/>
          </a:ln>
        </p:spPr>
      </p:sp>
      <p:sp>
        <p:nvSpPr>
          <p:cNvPr id="17" name="Étiquette 4"/>
          <p:cNvSpPr txBox="1"/>
          <p:nvPr/>
        </p:nvSpPr>
        <p:spPr>
          <a:xfrm>
            <a:off x="3291840" y="383133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0EF"/>
                </a:solidFill>
              </a:rPr>
              <a:t>Besoin</a:t>
            </a:r>
            <a:endParaRPr lang="en-US" sz="1400" dirty="0"/>
          </a:p>
        </p:txBody>
      </p:sp>
      <p:sp>
        <p:nvSpPr>
          <p:cNvPr id="18" name="Valeur 4"/>
          <p:cNvSpPr txBox="1"/>
          <p:nvPr/>
        </p:nvSpPr>
        <p:spPr>
          <a:xfrm>
            <a:off x="4389120" y="383133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Apprendre pas à pas à construire un prompt pour n'importe quelle demande.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fin, vous saurez…</a:t>
            </a:r>
            <a:endParaRPr lang="en-US" sz="3400" dirty="0"/>
          </a:p>
        </p:txBody>
      </p:sp>
      <p:sp>
        <p:nvSpPr>
          <p:cNvPr id="3" name="Objectif 1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4" name="Pastille verbe 1"/>
          <p:cNvSpPr/>
          <p:nvPr/>
        </p:nvSpPr>
        <p:spPr>
          <a:xfrm>
            <a:off x="640080" y="141732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sp>
        <p:nvSpPr>
          <p:cNvPr id="5" name="Verbe 1"/>
          <p:cNvSpPr txBox="1"/>
          <p:nvPr/>
        </p:nvSpPr>
        <p:spPr>
          <a:xfrm>
            <a:off x="64008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Identifier</a:t>
            </a:r>
            <a:endParaRPr lang="en-US" sz="2200" dirty="0"/>
          </a:p>
        </p:txBody>
      </p:sp>
      <p:sp>
        <p:nvSpPr>
          <p:cNvPr id="6" name="Énoncé objectif 1"/>
          <p:cNvSpPr txBox="1"/>
          <p:nvPr/>
        </p:nvSpPr>
        <p:spPr>
          <a:xfrm>
            <a:off x="288036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les 4 éléments d'un prompt (rôle, contexte, tâche, format) et repérer celui qui manque.</a:t>
            </a:r>
            <a:endParaRPr lang="en-US" sz="1500" dirty="0"/>
          </a:p>
        </p:txBody>
      </p:sp>
      <p:sp>
        <p:nvSpPr>
          <p:cNvPr id="7" name="Objectif 2"/>
          <p:cNvSpPr/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8" name="Pastille verbe 2"/>
          <p:cNvSpPr/>
          <p:nvPr/>
        </p:nvSpPr>
        <p:spPr>
          <a:xfrm>
            <a:off x="640080" y="256032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69B84"/>
          </a:solidFill>
          <a:ln w="12700">
            <a:solidFill>
              <a:srgbClr val="269B84"/>
            </a:solidFill>
            <a:prstDash val="solid"/>
          </a:ln>
        </p:spPr>
      </p:sp>
      <p:sp>
        <p:nvSpPr>
          <p:cNvPr id="9" name="Verbe 2"/>
          <p:cNvSpPr txBox="1"/>
          <p:nvPr/>
        </p:nvSpPr>
        <p:spPr>
          <a:xfrm>
            <a:off x="640080" y="2560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Comparer</a:t>
            </a:r>
            <a:endParaRPr lang="en-US" sz="2200" dirty="0"/>
          </a:p>
        </p:txBody>
      </p:sp>
      <p:sp>
        <p:nvSpPr>
          <p:cNvPr id="10" name="Énoncé objectif 2"/>
          <p:cNvSpPr txBox="1"/>
          <p:nvPr/>
        </p:nvSpPr>
        <p:spPr>
          <a:xfrm>
            <a:off x="2880360" y="2377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réponse d'un prompt court et celle d'un prompt à 4 éléments, et expliquer en une phrase d'où vient la différence.</a:t>
            </a:r>
            <a:endParaRPr lang="en-US" sz="1500" dirty="0"/>
          </a:p>
        </p:txBody>
      </p:sp>
      <p:sp>
        <p:nvSpPr>
          <p:cNvPr id="11" name="Objectif 3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12" name="Pastille verbe 3"/>
          <p:cNvSpPr/>
          <p:nvPr/>
        </p:nvSpPr>
        <p:spPr>
          <a:xfrm>
            <a:off x="640080" y="370332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13" name="Verbe 3"/>
          <p:cNvSpPr txBox="1"/>
          <p:nvPr/>
        </p:nvSpPr>
        <p:spPr>
          <a:xfrm>
            <a:off x="64008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Rédiger</a:t>
            </a:r>
            <a:endParaRPr lang="en-US" sz="2200" dirty="0"/>
          </a:p>
        </p:txBody>
      </p:sp>
      <p:sp>
        <p:nvSpPr>
          <p:cNvPr id="14" name="Énoncé objectif 3"/>
          <p:cNvSpPr txBox="1"/>
          <p:nvPr/>
        </p:nvSpPr>
        <p:spPr>
          <a:xfrm>
            <a:off x="2880360" y="3520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prompt complet avec les 4 éléments, puis l'ajuster après avoir lu la réponse.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en 3 modules</a:t>
            </a:r>
            <a:endParaRPr lang="en-US" sz="3400" dirty="0"/>
          </a:p>
        </p:txBody>
      </p:sp>
      <p:sp>
        <p:nvSpPr>
          <p:cNvPr id="3" name="Module 1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4" name="Icône module 1 cercle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pic>
        <p:nvPicPr>
          <p:cNvPr id="5" name="Icône module 1" descr="Icône modul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23060"/>
            <a:ext cx="320040" cy="320040"/>
          </a:xfrm>
          <a:prstGeom prst="rect">
            <a:avLst/>
          </a:prstGeom>
        </p:spPr>
      </p:pic>
      <p:sp>
        <p:nvSpPr>
          <p:cNvPr id="6" name="Numéro module 1"/>
          <p:cNvSpPr txBox="1"/>
          <p:nvPr/>
        </p:nvSpPr>
        <p:spPr>
          <a:xfrm>
            <a:off x="146304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60EF"/>
                </a:solidFill>
              </a:rPr>
              <a:t>MODULE 1</a:t>
            </a:r>
            <a:endParaRPr lang="en-US" sz="1200" dirty="0"/>
          </a:p>
        </p:txBody>
      </p:sp>
      <p:sp>
        <p:nvSpPr>
          <p:cNvPr id="7" name="Durée module 1"/>
          <p:cNvSpPr txBox="1"/>
          <p:nvPr/>
        </p:nvSpPr>
        <p:spPr>
          <a:xfrm>
            <a:off x="146304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 min</a:t>
            </a:r>
            <a:endParaRPr lang="en-US" sz="2000" dirty="0"/>
          </a:p>
        </p:txBody>
      </p:sp>
      <p:sp>
        <p:nvSpPr>
          <p:cNvPr id="8" name="Titre module 1"/>
          <p:cNvSpPr txBox="1"/>
          <p:nvPr/>
        </p:nvSpPr>
        <p:spPr>
          <a:xfrm>
            <a:off x="68580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Repérer les 4 éléments</a:t>
            </a:r>
            <a:endParaRPr lang="en-US" sz="1700" dirty="0"/>
          </a:p>
        </p:txBody>
      </p:sp>
      <p:sp>
        <p:nvSpPr>
          <p:cNvPr id="9" name="Format module 1"/>
          <p:cNvSpPr txBox="1"/>
          <p:nvPr/>
        </p:nvSpPr>
        <p:spPr>
          <a:xfrm>
            <a:off x="68580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Mini-explication avec un exemple annoté, puis exercice guidé sur 2 prompts courts</a:t>
            </a:r>
            <a:endParaRPr lang="en-US" sz="1300" dirty="0"/>
          </a:p>
        </p:txBody>
      </p:sp>
      <p:sp>
        <p:nvSpPr>
          <p:cNvPr id="10" name="Module 2"/>
          <p:cNvSpPr/>
          <p:nvPr/>
        </p:nvSpPr>
        <p:spPr>
          <a:xfrm>
            <a:off x="324612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11" name="Icône module 2 cercle"/>
          <p:cNvSpPr/>
          <p:nvPr/>
        </p:nvSpPr>
        <p:spPr>
          <a:xfrm>
            <a:off x="3474720" y="1463040"/>
            <a:ext cx="640080" cy="640080"/>
          </a:xfrm>
          <a:prstGeom prst="ellipse">
            <a:avLst/>
          </a:prstGeom>
          <a:solidFill>
            <a:srgbClr val="269B84"/>
          </a:solidFill>
          <a:ln w="12700">
            <a:solidFill>
              <a:srgbClr val="269B84"/>
            </a:solidFill>
            <a:prstDash val="solid"/>
          </a:ln>
        </p:spPr>
      </p:sp>
      <p:pic>
        <p:nvPicPr>
          <p:cNvPr id="12" name="Icône module 2" descr="Icône modul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623060"/>
            <a:ext cx="320040" cy="320040"/>
          </a:xfrm>
          <a:prstGeom prst="rect">
            <a:avLst/>
          </a:prstGeom>
        </p:spPr>
      </p:pic>
      <p:sp>
        <p:nvSpPr>
          <p:cNvPr id="13" name="Numéro module 2"/>
          <p:cNvSpPr txBox="1"/>
          <p:nvPr/>
        </p:nvSpPr>
        <p:spPr>
          <a:xfrm>
            <a:off x="425196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69B84"/>
                </a:solidFill>
              </a:rPr>
              <a:t>MODULE 2</a:t>
            </a:r>
            <a:endParaRPr lang="en-US" sz="1200" dirty="0"/>
          </a:p>
        </p:txBody>
      </p:sp>
      <p:sp>
        <p:nvSpPr>
          <p:cNvPr id="14" name="Durée module 2"/>
          <p:cNvSpPr txBox="1"/>
          <p:nvPr/>
        </p:nvSpPr>
        <p:spPr>
          <a:xfrm>
            <a:off x="425196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 min</a:t>
            </a:r>
            <a:endParaRPr lang="en-US" sz="2000" dirty="0"/>
          </a:p>
        </p:txBody>
      </p:sp>
      <p:sp>
        <p:nvSpPr>
          <p:cNvPr id="15" name="Titre module 2"/>
          <p:cNvSpPr txBox="1"/>
          <p:nvPr/>
        </p:nvSpPr>
        <p:spPr>
          <a:xfrm>
            <a:off x="34747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Voir la différence</a:t>
            </a:r>
            <a:endParaRPr lang="en-US" sz="1700" dirty="0"/>
          </a:p>
        </p:txBody>
      </p:sp>
      <p:sp>
        <p:nvSpPr>
          <p:cNvPr id="16" name="Format module 2"/>
          <p:cNvSpPr txBox="1"/>
          <p:nvPr/>
        </p:nvSpPr>
        <p:spPr>
          <a:xfrm>
            <a:off x="347472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Démonstration : même demande, prompt court contre prompt à 4 éléments, puis note écrite</a:t>
            </a:r>
            <a:endParaRPr lang="en-US" sz="1300" dirty="0"/>
          </a:p>
        </p:txBody>
      </p:sp>
      <p:sp>
        <p:nvSpPr>
          <p:cNvPr id="17" name="Module 3"/>
          <p:cNvSpPr/>
          <p:nvPr/>
        </p:nvSpPr>
        <p:spPr>
          <a:xfrm>
            <a:off x="603504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18" name="Icône module 3 cercle"/>
          <p:cNvSpPr/>
          <p:nvPr/>
        </p:nvSpPr>
        <p:spPr>
          <a:xfrm>
            <a:off x="6263640" y="1463040"/>
            <a:ext cx="640080" cy="640080"/>
          </a:xfrm>
          <a:prstGeom prst="ellipse">
            <a:avLst/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pic>
        <p:nvPicPr>
          <p:cNvPr id="19" name="Icône module 3" descr="Icône modul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623060"/>
            <a:ext cx="320040" cy="320040"/>
          </a:xfrm>
          <a:prstGeom prst="rect">
            <a:avLst/>
          </a:prstGeom>
        </p:spPr>
      </p:pic>
      <p:sp>
        <p:nvSpPr>
          <p:cNvPr id="20" name="Numéro module 3"/>
          <p:cNvSpPr txBox="1"/>
          <p:nvPr/>
        </p:nvSpPr>
        <p:spPr>
          <a:xfrm>
            <a:off x="704088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03A"/>
                </a:solidFill>
              </a:rPr>
              <a:t>MODULE 3</a:t>
            </a:r>
            <a:endParaRPr lang="en-US" sz="1200" dirty="0"/>
          </a:p>
        </p:txBody>
      </p:sp>
      <p:sp>
        <p:nvSpPr>
          <p:cNvPr id="21" name="Durée module 3"/>
          <p:cNvSpPr txBox="1"/>
          <p:nvPr/>
        </p:nvSpPr>
        <p:spPr>
          <a:xfrm>
            <a:off x="704088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 min</a:t>
            </a:r>
            <a:endParaRPr lang="en-US" sz="2000" dirty="0"/>
          </a:p>
        </p:txBody>
      </p:sp>
      <p:sp>
        <p:nvSpPr>
          <p:cNvPr id="22" name="Titre module 3"/>
          <p:cNvSpPr txBox="1"/>
          <p:nvPr/>
        </p:nvSpPr>
        <p:spPr>
          <a:xfrm>
            <a:off x="626364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Écrire son propre prompt</a:t>
            </a:r>
            <a:endParaRPr lang="en-US" sz="1700" dirty="0"/>
          </a:p>
        </p:txBody>
      </p:sp>
      <p:sp>
        <p:nvSpPr>
          <p:cNvPr id="23" name="Format module 3"/>
          <p:cNvSpPr txBox="1"/>
          <p:nvPr/>
        </p:nvSpPr>
        <p:spPr>
          <a:xfrm>
            <a:off x="6263640" y="28346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Pratique autonome avec la grille de 4 cases, puis ajustement après lecture</a:t>
            </a:r>
            <a:endParaRPr lang="en-US" sz="1300" dirty="0"/>
          </a:p>
        </p:txBody>
      </p:sp>
      <p:sp>
        <p:nvSpPr>
          <p:cNvPr id="24" name="Bandeau durée totale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Durée totale"/>
          <p:cNvSpPr txBox="1"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Durée totale : 15 minutes</a:t>
            </a:r>
            <a:pPr indent="0" marL="0">
              <a:buNone/>
            </a:pPr>
            <a:r>
              <a:rPr lang="en-US" sz="1600" dirty="0">
                <a:solidFill>
                  <a:srgbClr val="BDB4EB"/>
                </a:solidFill>
              </a:rPr>
              <a:t>   (4 + 4 + 7 min)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: un prompt annoté</a:t>
            </a:r>
            <a:endParaRPr lang="en-US" sz="3400" dirty="0"/>
          </a:p>
        </p:txBody>
      </p:sp>
      <p:sp>
        <p:nvSpPr>
          <p:cNvPr id="3" name="Cadre prompt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rgbClr val="E4E0FA"/>
            </a:solidFill>
            <a:prstDash val="solid"/>
          </a:ln>
        </p:spPr>
      </p:sp>
      <p:sp>
        <p:nvSpPr>
          <p:cNvPr id="4" name="Prompt exemple"/>
          <p:cNvSpPr txBox="1"/>
          <p:nvPr/>
        </p:nvSpPr>
        <p:spPr>
          <a:xfrm>
            <a:off x="731520" y="12344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highlight>
                  <a:srgbClr val="D9D4FB"/>
                </a:highlight>
              </a:rPr>
              <a:t>Tu es un tuteur patient.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highlight>
                  <a:srgbClr val="BFE7DD"/>
                </a:highlight>
              </a:rPr>
              <a:t>Je suis étudiant en première année et je dois réviser mon cours d'histoire.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highlight>
                  <a:srgbClr val="FFD9BE"/>
                </a:highlight>
              </a:rPr>
              <a:t>Résume-le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highlight>
                  <a:srgbClr val="C9DDFA"/>
                </a:highlight>
              </a:rPr>
              <a:t>en 5 phrases courtes.</a:t>
            </a:r>
            <a:endParaRPr lang="en-US" sz="2000" dirty="0"/>
          </a:p>
        </p:txBody>
      </p:sp>
      <p:sp>
        <p:nvSpPr>
          <p:cNvPr id="5" name="Élément 1"/>
          <p:cNvSpPr/>
          <p:nvPr/>
        </p:nvSpPr>
        <p:spPr>
          <a:xfrm>
            <a:off x="457200" y="306324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sp>
        <p:nvSpPr>
          <p:cNvPr id="6" name="Texte élément 1"/>
          <p:cNvSpPr txBox="1"/>
          <p:nvPr/>
        </p:nvSpPr>
        <p:spPr>
          <a:xfrm>
            <a:off x="594360" y="31089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Rôle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Qui l'IA doit être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« Tu es un tuteur patient »</a:t>
            </a:r>
            <a:endParaRPr lang="en-US" sz="1600" dirty="0"/>
          </a:p>
        </p:txBody>
      </p:sp>
      <p:sp>
        <p:nvSpPr>
          <p:cNvPr id="7" name="Élément 2"/>
          <p:cNvSpPr/>
          <p:nvPr/>
        </p:nvSpPr>
        <p:spPr>
          <a:xfrm>
            <a:off x="2542032" y="306324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269B84"/>
          </a:solidFill>
          <a:ln w="12700">
            <a:solidFill>
              <a:srgbClr val="269B84"/>
            </a:solidFill>
            <a:prstDash val="solid"/>
          </a:ln>
        </p:spPr>
      </p:sp>
      <p:sp>
        <p:nvSpPr>
          <p:cNvPr id="8" name="Texte élément 2"/>
          <p:cNvSpPr txBox="1"/>
          <p:nvPr/>
        </p:nvSpPr>
        <p:spPr>
          <a:xfrm>
            <a:off x="2679192" y="31089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Contexte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Ta situation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« étudiant en première année… »</a:t>
            </a:r>
            <a:endParaRPr lang="en-US" sz="1600" dirty="0"/>
          </a:p>
        </p:txBody>
      </p:sp>
      <p:sp>
        <p:nvSpPr>
          <p:cNvPr id="9" name="Élément 3"/>
          <p:cNvSpPr/>
          <p:nvPr/>
        </p:nvSpPr>
        <p:spPr>
          <a:xfrm>
            <a:off x="4626864" y="306324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10" name="Texte élément 3"/>
          <p:cNvSpPr txBox="1"/>
          <p:nvPr/>
        </p:nvSpPr>
        <p:spPr>
          <a:xfrm>
            <a:off x="4764024" y="31089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Tâche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Ce qu'elle doit faire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« Résume-le »</a:t>
            </a:r>
            <a:endParaRPr lang="en-US" sz="1600" dirty="0"/>
          </a:p>
        </p:txBody>
      </p:sp>
      <p:sp>
        <p:nvSpPr>
          <p:cNvPr id="11" name="Élément 4"/>
          <p:cNvSpPr/>
          <p:nvPr/>
        </p:nvSpPr>
        <p:spPr>
          <a:xfrm>
            <a:off x="6711696" y="306324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4A86E8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12" name="Texte élément 4"/>
          <p:cNvSpPr txBox="1"/>
          <p:nvPr/>
        </p:nvSpPr>
        <p:spPr>
          <a:xfrm>
            <a:off x="6848856" y="31089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 Format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 forme de la réponse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« en 5 phrases courtes 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: l'exercice et la grille</a:t>
            </a:r>
            <a:endParaRPr lang="en-US" sz="3400" dirty="0"/>
          </a:p>
        </p:txBody>
      </p:sp>
      <p:sp>
        <p:nvSpPr>
          <p:cNvPr id="3" name="Titre exercice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60EF"/>
                </a:solidFill>
              </a:rPr>
              <a:t>Exercice du module 1</a:t>
            </a:r>
            <a:endParaRPr lang="en-US" sz="1800" dirty="0"/>
          </a:p>
        </p:txBody>
      </p:sp>
      <p:sp>
        <p:nvSpPr>
          <p:cNvPr id="4" name="Carte exercice"/>
          <p:cNvSpPr/>
          <p:nvPr/>
        </p:nvSpPr>
        <p:spPr>
          <a:xfrm>
            <a:off x="457200" y="160020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rgbClr val="E4E0FA"/>
            </a:solidFill>
            <a:prstDash val="solid"/>
          </a:ln>
        </p:spPr>
      </p:sp>
      <p:sp>
        <p:nvSpPr>
          <p:cNvPr id="5" name="Énoncé exercice"/>
          <p:cNvSpPr txBox="1"/>
          <p:nvPr/>
        </p:nvSpPr>
        <p:spPr>
          <a:xfrm>
            <a:off x="640080" y="16002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Lis ce prompt 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« Je prépare un exposé de 5 minutes pour mon cours de géographie. Aide-moi à le préparer. Donne-moi une liste de 3 parties. 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Repère les éléments, puis nomme celui qui manque.</a:t>
            </a:r>
            <a:endParaRPr lang="en-US" sz="1300" dirty="0"/>
          </a:p>
        </p:txBody>
      </p:sp>
      <p:sp>
        <p:nvSpPr>
          <p:cNvPr id="6" name="Réponse exercice"/>
          <p:cNvSpPr/>
          <p:nvPr/>
        </p:nvSpPr>
        <p:spPr>
          <a:xfrm>
            <a:off x="457200" y="310896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269B84"/>
          </a:solidFill>
          <a:ln w="12700">
            <a:solidFill>
              <a:srgbClr val="269B84"/>
            </a:solidFill>
            <a:prstDash val="solid"/>
          </a:ln>
        </p:spPr>
      </p:sp>
      <p:sp>
        <p:nvSpPr>
          <p:cNvPr id="7" name="Texte réponse"/>
          <p:cNvSpPr txBox="1"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Réponse : il manque le rôle.</a:t>
            </a:r>
            <a:endParaRPr lang="en-US" sz="1400" dirty="0"/>
          </a:p>
        </p:txBody>
      </p:sp>
      <p:sp>
        <p:nvSpPr>
          <p:cNvPr id="8" name="Titre checklist"/>
          <p:cNvSpPr txBox="1"/>
          <p:nvPr/>
        </p:nvSpPr>
        <p:spPr>
          <a:xfrm>
            <a:off x="45720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0EF"/>
                </a:solidFill>
              </a:rPr>
              <a:t>Liste de contrôle</a:t>
            </a:r>
            <a:endParaRPr lang="en-US" sz="1400" dirty="0"/>
          </a:p>
        </p:txBody>
      </p:sp>
      <p:sp>
        <p:nvSpPr>
          <p:cNvPr id="9" name="Checklist"/>
          <p:cNvSpPr txBox="1"/>
          <p:nvPr/>
        </p:nvSpPr>
        <p:spPr>
          <a:xfrm>
            <a:off x="45720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J'ai repéré les 4 éléments dans les 2 prompts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Les 4 cases de ma grille sont remplies</a:t>
            </a:r>
            <a:endParaRPr lang="en-US" sz="1300" dirty="0"/>
          </a:p>
        </p:txBody>
      </p:sp>
      <p:sp>
        <p:nvSpPr>
          <p:cNvPr id="10" name="Titre grille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60EF"/>
                </a:solidFill>
              </a:rPr>
              <a:t>Grille de 4 cases (module 3)</a:t>
            </a:r>
            <a:endParaRPr lang="en-US" sz="1800" dirty="0"/>
          </a:p>
        </p:txBody>
      </p:sp>
      <p:sp>
        <p:nvSpPr>
          <p:cNvPr id="11" name="Case Rôle"/>
          <p:cNvSpPr/>
          <p:nvPr/>
        </p:nvSpPr>
        <p:spPr>
          <a:xfrm>
            <a:off x="4754880" y="160020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6E60EF"/>
            </a:solidFill>
            <a:prstDash val="solid"/>
          </a:ln>
        </p:spPr>
      </p:sp>
      <p:sp>
        <p:nvSpPr>
          <p:cNvPr id="12" name="Texte case Rôle"/>
          <p:cNvSpPr txBox="1"/>
          <p:nvPr/>
        </p:nvSpPr>
        <p:spPr>
          <a:xfrm>
            <a:off x="4892040" y="16459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60EF"/>
                </a:solidFill>
              </a:rPr>
              <a:t>Rôle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Qui veux-tu que l'IA soit pour te répondre ?</a:t>
            </a:r>
            <a:endParaRPr lang="en-US" sz="1600" dirty="0"/>
          </a:p>
        </p:txBody>
      </p:sp>
      <p:sp>
        <p:nvSpPr>
          <p:cNvPr id="13" name="Case Contexte"/>
          <p:cNvSpPr/>
          <p:nvPr/>
        </p:nvSpPr>
        <p:spPr>
          <a:xfrm>
            <a:off x="6766560" y="160020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269B84"/>
            </a:solidFill>
            <a:prstDash val="solid"/>
          </a:ln>
        </p:spPr>
      </p:sp>
      <p:sp>
        <p:nvSpPr>
          <p:cNvPr id="14" name="Texte case Contexte"/>
          <p:cNvSpPr txBox="1"/>
          <p:nvPr/>
        </p:nvSpPr>
        <p:spPr>
          <a:xfrm>
            <a:off x="6903720" y="16459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9B84"/>
                </a:solidFill>
              </a:rPr>
              <a:t>Contexte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Quelles informations donnes-tu sur ta situation ?</a:t>
            </a:r>
            <a:endParaRPr lang="en-US" sz="1600" dirty="0"/>
          </a:p>
        </p:txBody>
      </p:sp>
      <p:sp>
        <p:nvSpPr>
          <p:cNvPr id="15" name="Case Tâche"/>
          <p:cNvSpPr/>
          <p:nvPr/>
        </p:nvSpPr>
        <p:spPr>
          <a:xfrm>
            <a:off x="4754880" y="315468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E8803A"/>
            </a:solidFill>
            <a:prstDash val="solid"/>
          </a:ln>
        </p:spPr>
      </p:sp>
      <p:sp>
        <p:nvSpPr>
          <p:cNvPr id="16" name="Texte case Tâche"/>
          <p:cNvSpPr txBox="1"/>
          <p:nvPr/>
        </p:nvSpPr>
        <p:spPr>
          <a:xfrm>
            <a:off x="4892040" y="32004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03A"/>
                </a:solidFill>
              </a:rPr>
              <a:t>Tâche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 doit faire l'IA ?</a:t>
            </a:r>
            <a:endParaRPr lang="en-US" sz="1600" dirty="0"/>
          </a:p>
        </p:txBody>
      </p:sp>
      <p:sp>
        <p:nvSpPr>
          <p:cNvPr id="17" name="Case Format"/>
          <p:cNvSpPr/>
          <p:nvPr/>
        </p:nvSpPr>
        <p:spPr>
          <a:xfrm>
            <a:off x="6766560" y="315468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4A86E8"/>
            </a:solidFill>
            <a:prstDash val="solid"/>
          </a:ln>
        </p:spPr>
      </p:sp>
      <p:sp>
        <p:nvSpPr>
          <p:cNvPr id="18" name="Texte case Format"/>
          <p:cNvSpPr txBox="1"/>
          <p:nvPr/>
        </p:nvSpPr>
        <p:spPr>
          <a:xfrm>
            <a:off x="6903720" y="32004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86E8"/>
                </a:solidFill>
              </a:rPr>
              <a:t>Format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Sous quelle forme veux-tu la réponse 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vidéo de leçon</a:t>
            </a:r>
            <a:endParaRPr lang="en-US" sz="3400" dirty="0"/>
          </a:p>
        </p:txBody>
      </p:sp>
      <p:pic>
        <p:nvPicPr>
          <p:cNvPr id="3" name="Vidéo de leçon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5669280" cy="3118104"/>
          </a:xfrm>
          <a:prstGeom prst="rect">
            <a:avLst/>
          </a:prstGeom>
        </p:spPr>
      </p:pic>
      <p:sp>
        <p:nvSpPr>
          <p:cNvPr id="4" name="Badge IA"/>
          <p:cNvSpPr/>
          <p:nvPr/>
        </p:nvSpPr>
        <p:spPr>
          <a:xfrm>
            <a:off x="457200" y="10972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5" name="Mention IA vidéo"/>
          <p:cNvSpPr txBox="1"/>
          <p:nvPr/>
        </p:nvSpPr>
        <p:spPr>
          <a:xfrm>
            <a:off x="457200" y="10972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Vidéo générée avec l'IA</a:t>
            </a:r>
            <a:endParaRPr lang="en-US" sz="1200" dirty="0"/>
          </a:p>
        </p:txBody>
      </p:sp>
      <p:sp>
        <p:nvSpPr>
          <p:cNvPr id="6" name="Carte vidéo"/>
          <p:cNvSpPr/>
          <p:nvPr/>
        </p:nvSpPr>
        <p:spPr>
          <a:xfrm>
            <a:off x="6400800" y="1325880"/>
            <a:ext cx="2286000" cy="3118104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rgbClr val="E4E0FA"/>
            </a:solidFill>
            <a:prstDash val="solid"/>
          </a:ln>
        </p:spPr>
      </p:sp>
      <p:sp>
        <p:nvSpPr>
          <p:cNvPr id="7" name="Texte vidéo"/>
          <p:cNvSpPr txBox="1"/>
          <p:nvPr/>
        </p:nvSpPr>
        <p:spPr>
          <a:xfrm>
            <a:off x="6583680" y="141732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 65 secondes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L'idée clé : un prompt clair a 4 éléments.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Avatar, voix et image : générés par IA.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Contenu écrit et vérifié par moi.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L'identité visuelle</a:t>
            </a:r>
            <a:endParaRPr lang="en-US" sz="3400" dirty="0"/>
          </a:p>
        </p:txBody>
      </p:sp>
      <p:sp>
        <p:nvSpPr>
          <p:cNvPr id="3" name="Pastille Navy"/>
          <p:cNvSpPr/>
          <p:nvPr/>
        </p:nvSpPr>
        <p:spPr>
          <a:xfrm>
            <a:off x="457200" y="1280160"/>
            <a:ext cx="713232" cy="713232"/>
          </a:xfrm>
          <a:prstGeom prst="ellipse">
            <a:avLst/>
          </a:prstGeom>
          <a:solidFill>
            <a:srgbClr val="131D50"/>
          </a:solidFill>
          <a:ln w="12700">
            <a:solidFill>
              <a:srgbClr val="D8D3F5"/>
            </a:solidFill>
            <a:prstDash val="solid"/>
          </a:ln>
        </p:spPr>
      </p:sp>
      <p:sp>
        <p:nvSpPr>
          <p:cNvPr id="4" name="Code Navy"/>
          <p:cNvSpPr txBox="1"/>
          <p:nvPr/>
        </p:nvSpPr>
        <p:spPr>
          <a:xfrm>
            <a:off x="393192" y="20574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Navy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#131D50</a:t>
            </a:r>
            <a:endParaRPr lang="en-US" sz="1000" dirty="0"/>
          </a:p>
        </p:txBody>
      </p:sp>
      <p:sp>
        <p:nvSpPr>
          <p:cNvPr id="5" name="Pastille Violet"/>
          <p:cNvSpPr/>
          <p:nvPr/>
        </p:nvSpPr>
        <p:spPr>
          <a:xfrm>
            <a:off x="1298448" y="1280160"/>
            <a:ext cx="713232" cy="713232"/>
          </a:xfrm>
          <a:prstGeom prst="ellipse">
            <a:avLst/>
          </a:prstGeom>
          <a:solidFill>
            <a:srgbClr val="6E60EF"/>
          </a:solidFill>
          <a:ln w="12700">
            <a:solidFill>
              <a:srgbClr val="D8D3F5"/>
            </a:solidFill>
            <a:prstDash val="solid"/>
          </a:ln>
        </p:spPr>
      </p:sp>
      <p:sp>
        <p:nvSpPr>
          <p:cNvPr id="6" name="Code Violet"/>
          <p:cNvSpPr txBox="1"/>
          <p:nvPr/>
        </p:nvSpPr>
        <p:spPr>
          <a:xfrm>
            <a:off x="1234440" y="20574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Violet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#6E60EF</a:t>
            </a:r>
            <a:endParaRPr lang="en-US" sz="1000" dirty="0"/>
          </a:p>
        </p:txBody>
      </p:sp>
      <p:sp>
        <p:nvSpPr>
          <p:cNvPr id="7" name="Pastille Vert"/>
          <p:cNvSpPr/>
          <p:nvPr/>
        </p:nvSpPr>
        <p:spPr>
          <a:xfrm>
            <a:off x="2139696" y="1280160"/>
            <a:ext cx="713232" cy="713232"/>
          </a:xfrm>
          <a:prstGeom prst="ellipse">
            <a:avLst/>
          </a:prstGeom>
          <a:solidFill>
            <a:srgbClr val="269B84"/>
          </a:solidFill>
          <a:ln w="12700">
            <a:solidFill>
              <a:srgbClr val="D8D3F5"/>
            </a:solidFill>
            <a:prstDash val="solid"/>
          </a:ln>
        </p:spPr>
      </p:sp>
      <p:sp>
        <p:nvSpPr>
          <p:cNvPr id="8" name="Code Vert"/>
          <p:cNvSpPr txBox="1"/>
          <p:nvPr/>
        </p:nvSpPr>
        <p:spPr>
          <a:xfrm>
            <a:off x="2075688" y="20574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Vert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#269B84</a:t>
            </a:r>
            <a:endParaRPr lang="en-US" sz="1000" dirty="0"/>
          </a:p>
        </p:txBody>
      </p:sp>
      <p:sp>
        <p:nvSpPr>
          <p:cNvPr id="9" name="Pastille Orange"/>
          <p:cNvSpPr/>
          <p:nvPr/>
        </p:nvSpPr>
        <p:spPr>
          <a:xfrm>
            <a:off x="2980944" y="1280160"/>
            <a:ext cx="713232" cy="713232"/>
          </a:xfrm>
          <a:prstGeom prst="ellipse">
            <a:avLst/>
          </a:prstGeom>
          <a:solidFill>
            <a:srgbClr val="E8803A"/>
          </a:solidFill>
          <a:ln w="12700">
            <a:solidFill>
              <a:srgbClr val="D8D3F5"/>
            </a:solidFill>
            <a:prstDash val="solid"/>
          </a:ln>
        </p:spPr>
      </p:sp>
      <p:sp>
        <p:nvSpPr>
          <p:cNvPr id="10" name="Code Orange"/>
          <p:cNvSpPr txBox="1"/>
          <p:nvPr/>
        </p:nvSpPr>
        <p:spPr>
          <a:xfrm>
            <a:off x="2916936" y="20574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Orange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#E8803A</a:t>
            </a:r>
            <a:endParaRPr lang="en-US" sz="1000" dirty="0"/>
          </a:p>
        </p:txBody>
      </p:sp>
      <p:sp>
        <p:nvSpPr>
          <p:cNvPr id="11" name="Pastille Bleu"/>
          <p:cNvSpPr/>
          <p:nvPr/>
        </p:nvSpPr>
        <p:spPr>
          <a:xfrm>
            <a:off x="3822192" y="1280160"/>
            <a:ext cx="713232" cy="713232"/>
          </a:xfrm>
          <a:prstGeom prst="ellipse">
            <a:avLst/>
          </a:prstGeom>
          <a:solidFill>
            <a:srgbClr val="4A86E8"/>
          </a:solidFill>
          <a:ln w="12700">
            <a:solidFill>
              <a:srgbClr val="D8D3F5"/>
            </a:solidFill>
            <a:prstDash val="solid"/>
          </a:ln>
        </p:spPr>
      </p:sp>
      <p:sp>
        <p:nvSpPr>
          <p:cNvPr id="12" name="Code Bleu"/>
          <p:cNvSpPr txBox="1"/>
          <p:nvPr/>
        </p:nvSpPr>
        <p:spPr>
          <a:xfrm>
            <a:off x="3758184" y="20574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Bleu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#4A86E8</a:t>
            </a:r>
            <a:endParaRPr lang="en-US" sz="1000" dirty="0"/>
          </a:p>
        </p:txBody>
      </p:sp>
      <p:sp>
        <p:nvSpPr>
          <p:cNvPr id="13" name="Pastille Lavande"/>
          <p:cNvSpPr/>
          <p:nvPr/>
        </p:nvSpPr>
        <p:spPr>
          <a:xfrm>
            <a:off x="4663440" y="1280160"/>
            <a:ext cx="713232" cy="713232"/>
          </a:xfrm>
          <a:prstGeom prst="ellipse">
            <a:avLst/>
          </a:prstGeom>
          <a:solidFill>
            <a:srgbClr val="F3F1FF"/>
          </a:solidFill>
          <a:ln w="12700">
            <a:solidFill>
              <a:srgbClr val="D8D3F5"/>
            </a:solidFill>
            <a:prstDash val="solid"/>
          </a:ln>
        </p:spPr>
      </p:sp>
      <p:sp>
        <p:nvSpPr>
          <p:cNvPr id="14" name="Code Lavande"/>
          <p:cNvSpPr txBox="1"/>
          <p:nvPr/>
        </p:nvSpPr>
        <p:spPr>
          <a:xfrm>
            <a:off x="4599432" y="20574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Lavande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#F3F1FF</a:t>
            </a:r>
            <a:endParaRPr lang="en-US" sz="1000" dirty="0"/>
          </a:p>
        </p:txBody>
      </p:sp>
      <p:sp>
        <p:nvSpPr>
          <p:cNvPr id="15" name="Titre style"/>
          <p:cNvSpPr txBox="1"/>
          <p:nvPr/>
        </p:nvSpPr>
        <p:spPr>
          <a:xfrm>
            <a:off x="45720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60EF"/>
                </a:solidFill>
              </a:rPr>
              <a:t>Le style</a:t>
            </a:r>
            <a:endParaRPr lang="en-US" sz="1800" dirty="0"/>
          </a:p>
        </p:txBody>
      </p:sp>
      <p:sp>
        <p:nvSpPr>
          <p:cNvPr id="16" name="Liste style"/>
          <p:cNvSpPr txBox="1"/>
          <p:nvPr/>
        </p:nvSpPr>
        <p:spPr>
          <a:xfrm>
            <a:off x="457200" y="30632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Ambiance bureau moderne, tons violets et nuit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Cartes arrondies translucides, une couleur par élément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Police sans-serif lisible, ton calme et pratique</a:t>
            </a:r>
            <a:endParaRPr lang="en-US" sz="1400" dirty="0"/>
          </a:p>
        </p:txBody>
      </p:sp>
      <p:pic>
        <p:nvPicPr>
          <p:cNvPr id="17" name="Visuel couverture" descr="Visuel de couverture du kit d'identit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34440"/>
            <a:ext cx="3017520" cy="1697126"/>
          </a:xfrm>
          <a:prstGeom prst="rect">
            <a:avLst/>
          </a:prstGeom>
        </p:spPr>
      </p:pic>
      <p:pic>
        <p:nvPicPr>
          <p:cNvPr id="18" name="Visuel module" descr="Visuel module : prompt court contre prompt détaill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063240"/>
            <a:ext cx="3017520" cy="16971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l'IA a été utilisée</a:t>
            </a:r>
            <a:endParaRPr lang="en-US" sz="3400" dirty="0"/>
          </a:p>
        </p:txBody>
      </p:sp>
      <p:sp>
        <p:nvSpPr>
          <p:cNvPr id="3" name="Colonne 1"/>
          <p:cNvSpPr/>
          <p:nvPr/>
        </p:nvSpPr>
        <p:spPr>
          <a:xfrm>
            <a:off x="457200" y="11887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4" name="En-tête 1"/>
          <p:cNvSpPr/>
          <p:nvPr/>
        </p:nvSpPr>
        <p:spPr>
          <a:xfrm>
            <a:off x="457200" y="1188720"/>
            <a:ext cx="2651760" cy="594360"/>
          </a:xfrm>
          <a:prstGeom prst="roundRect">
            <a:avLst>
              <a:gd name="adj" fmla="val 18462"/>
            </a:avLst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sp>
        <p:nvSpPr>
          <p:cNvPr id="5" name="Titre colonne 1"/>
          <p:cNvSpPr txBox="1"/>
          <p:nvPr/>
        </p:nvSpPr>
        <p:spPr>
          <a:xfrm>
            <a:off x="640080" y="1188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Les outils</a:t>
            </a:r>
            <a:endParaRPr lang="en-US" sz="1600" dirty="0"/>
          </a:p>
        </p:txBody>
      </p:sp>
      <p:sp>
        <p:nvSpPr>
          <p:cNvPr id="6" name="Contenu colonne 1"/>
          <p:cNvSpPr txBox="1"/>
          <p:nvPr/>
        </p:nvSpPr>
        <p:spPr>
          <a:xfrm>
            <a:off x="64008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ChatGPT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outil principal : script, support, visuels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[Outil d'avatar]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avatar et voix de la vidéo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[Outil de secours]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 cas d'échec du principal</a:t>
            </a:r>
            <a:endParaRPr lang="en-US" sz="1400" dirty="0"/>
          </a:p>
        </p:txBody>
      </p:sp>
      <p:sp>
        <p:nvSpPr>
          <p:cNvPr id="7" name="Colonne 2"/>
          <p:cNvSpPr/>
          <p:nvPr/>
        </p:nvSpPr>
        <p:spPr>
          <a:xfrm>
            <a:off x="3246120" y="11887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8" name="En-tête 2"/>
          <p:cNvSpPr/>
          <p:nvPr/>
        </p:nvSpPr>
        <p:spPr>
          <a:xfrm>
            <a:off x="3246120" y="1188720"/>
            <a:ext cx="2651760" cy="594360"/>
          </a:xfrm>
          <a:prstGeom prst="roundRect">
            <a:avLst>
              <a:gd name="adj" fmla="val 18462"/>
            </a:avLst>
          </a:prstGeom>
          <a:solidFill>
            <a:srgbClr val="269B84"/>
          </a:solidFill>
          <a:ln w="12700">
            <a:solidFill>
              <a:srgbClr val="269B84"/>
            </a:solidFill>
            <a:prstDash val="solid"/>
          </a:ln>
        </p:spPr>
      </p:sp>
      <p:sp>
        <p:nvSpPr>
          <p:cNvPr id="9" name="Titre colonne 2"/>
          <p:cNvSpPr txBox="1"/>
          <p:nvPr/>
        </p:nvSpPr>
        <p:spPr>
          <a:xfrm>
            <a:off x="3429000" y="1188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 que l'IA a produit</a:t>
            </a:r>
            <a:endParaRPr lang="en-US" sz="1600" dirty="0"/>
          </a:p>
        </p:txBody>
      </p:sp>
      <p:sp>
        <p:nvSpPr>
          <p:cNvPr id="10" name="Contenu colonne 2"/>
          <p:cNvSpPr txBox="1"/>
          <p:nvPr/>
        </p:nvSpPr>
        <p:spPr>
          <a:xfrm>
            <a:off x="342900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 script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 modules narrés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 support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dossier et document apprenant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 vidéo et les visuels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avatar, kit visuel</a:t>
            </a:r>
            <a:endParaRPr lang="en-US" sz="1400" dirty="0"/>
          </a:p>
        </p:txBody>
      </p:sp>
      <p:sp>
        <p:nvSpPr>
          <p:cNvPr id="11" name="Colonne 3"/>
          <p:cNvSpPr/>
          <p:nvPr/>
        </p:nvSpPr>
        <p:spPr>
          <a:xfrm>
            <a:off x="6035040" y="11887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FA"/>
            </a:solidFill>
            <a:prstDash val="solid"/>
          </a:ln>
          <a:effectLst>
            <a:outerShdw sx="100000" sy="100000" kx="0" ky="0" algn="bl" rotWithShape="0" blurRad="101600" dist="25400" dir="5400000">
              <a:srgbClr val="131D50">
                <a:alpha val="12000"/>
              </a:srgbClr>
            </a:outerShdw>
          </a:effectLst>
        </p:spPr>
      </p:sp>
      <p:sp>
        <p:nvSpPr>
          <p:cNvPr id="12" name="En-tête 3"/>
          <p:cNvSpPr/>
          <p:nvPr/>
        </p:nvSpPr>
        <p:spPr>
          <a:xfrm>
            <a:off x="6035040" y="1188720"/>
            <a:ext cx="2651760" cy="594360"/>
          </a:xfrm>
          <a:prstGeom prst="roundRect">
            <a:avLst>
              <a:gd name="adj" fmla="val 18462"/>
            </a:avLst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13" name="Titre colonne 3"/>
          <p:cNvSpPr txBox="1"/>
          <p:nvPr/>
        </p:nvSpPr>
        <p:spPr>
          <a:xfrm>
            <a:off x="6217920" y="1188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 que j'ai vérifié</a:t>
            </a:r>
            <a:endParaRPr lang="en-US" sz="1600" dirty="0"/>
          </a:p>
        </p:txBody>
      </p:sp>
      <p:sp>
        <p:nvSpPr>
          <p:cNvPr id="14" name="Contenu colonne 3"/>
          <p:cNvSpPr txBox="1"/>
          <p:nvPr/>
        </p:nvSpPr>
        <p:spPr>
          <a:xfrm>
            <a:off x="621792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Fact-check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les lignes CHECK du script, une par une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Réponses réelles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affirmations confrontées aux démos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Nuances ajoutées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« pas garanti à chaque fois »</a:t>
            </a:r>
            <a:endParaRPr lang="en-US" sz="1400" dirty="0"/>
          </a:p>
        </p:txBody>
      </p:sp>
      <p:sp>
        <p:nvSpPr>
          <p:cNvPr id="15" name="Renvoi journal"/>
          <p:cNvSpPr txBox="1"/>
          <p:nvPr/>
        </p:nvSpPr>
        <p:spPr>
          <a:xfrm>
            <a:off x="45720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Détail des prompts et des corrections : voir mon journal de prompts.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F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à l'action</a:t>
            </a:r>
            <a:endParaRPr lang="en-US" sz="3800" dirty="0"/>
          </a:p>
        </p:txBody>
      </p:sp>
      <p:sp>
        <p:nvSpPr>
          <p:cNvPr id="3" name="Bouton lien"/>
          <p:cNvSpPr/>
          <p:nvPr/>
        </p:nvSpPr>
        <p:spPr>
          <a:xfrm>
            <a:off x="548640" y="146304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pic>
        <p:nvPicPr>
          <p:cNvPr id="4" name="Icône lien" descr="Li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74320" cy="274320"/>
          </a:xfrm>
          <a:prstGeom prst="rect">
            <a:avLst/>
          </a:prstGeom>
        </p:spPr>
      </p:pic>
      <p:sp>
        <p:nvSpPr>
          <p:cNvPr id="5" name="Lien formation"/>
          <p:cNvSpPr txBox="1"/>
          <p:nvPr/>
        </p:nvSpPr>
        <p:spPr>
          <a:xfrm>
            <a:off x="1234440" y="1463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Suivre la formation 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[lien vers la formation publiée]</a:t>
            </a:r>
            <a:endParaRPr lang="en-US" sz="1800" dirty="0"/>
          </a:p>
        </p:txBody>
      </p:sp>
      <p:sp>
        <p:nvSpPr>
          <p:cNvPr id="6" name="Carte newsletter"/>
          <p:cNvSpPr/>
          <p:nvPr/>
        </p:nvSpPr>
        <p:spPr>
          <a:xfrm>
            <a:off x="548640" y="2423160"/>
            <a:ext cx="8046720" cy="1143000"/>
          </a:xfrm>
          <a:prstGeom prst="roundRect">
            <a:avLst>
              <a:gd name="adj" fmla="val 9600"/>
            </a:avLst>
          </a:prstGeom>
          <a:solidFill>
            <a:srgbClr val="2A3070"/>
          </a:solidFill>
          <a:ln w="12700">
            <a:solidFill>
              <a:srgbClr val="3C4390"/>
            </a:solidFill>
            <a:prstDash val="solid"/>
          </a:ln>
        </p:spPr>
      </p:sp>
      <p:pic>
        <p:nvPicPr>
          <p:cNvPr id="7" name="Icône newsletter" descr="Newslet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274320" cy="274320"/>
          </a:xfrm>
          <a:prstGeom prst="rect">
            <a:avLst/>
          </a:prstGeom>
        </p:spPr>
      </p:pic>
      <p:sp>
        <p:nvSpPr>
          <p:cNvPr id="8" name="Phrase newsletter"/>
          <p:cNvSpPr txBox="1"/>
          <p:nvPr/>
        </p:nvSpPr>
        <p:spPr>
          <a:xfrm>
            <a:off x="1234440" y="242316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B4EB"/>
                </a:solidFill>
              </a:rPr>
              <a:t>Newsletter de lancement</a:t>
            </a:r>
            <a:endParaRPr lang="en-US" sz="12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« Nouveau : apprends à écrire un bon prompt en 15 minutes. Rôle, contexte, tâche, format : moins de réponses à côté, plus de réponses utiles. »</a:t>
            </a:r>
            <a:endParaRPr lang="en-US" sz="1200" dirty="0"/>
          </a:p>
        </p:txBody>
      </p:sp>
      <p:sp>
        <p:nvSpPr>
          <p:cNvPr id="9" name="Merci questions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Merci ! Des questions 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mpt Kit">
  <a:themeElements>
    <a:clrScheme name="Prompt Kit">
      <a:dk1>
        <a:srgbClr val="131D50"/>
      </a:dk1>
      <a:lt1>
        <a:srgbClr val="FFFFFF"/>
      </a:lt1>
      <a:dk2>
        <a:srgbClr val="4A4F7A"/>
      </a:dk2>
      <a:lt2>
        <a:srgbClr val="F3F1FF"/>
      </a:lt2>
      <a:accent1>
        <a:srgbClr val="6E60EF"/>
      </a:accent1>
      <a:accent2>
        <a:srgbClr val="269B84"/>
      </a:accent2>
      <a:accent3>
        <a:srgbClr val="E8803A"/>
      </a:accent3>
      <a:accent4>
        <a:srgbClr val="4A86E8"/>
      </a:accent4>
      <a:accent5>
        <a:srgbClr val="131D50"/>
      </a:accent5>
      <a:accent6>
        <a:srgbClr val="BDB4EB"/>
      </a:accent6>
      <a:hlink>
        <a:srgbClr val="6E60EF"/>
      </a:hlink>
      <a:folHlink>
        <a:srgbClr val="4A4F7A"/>
      </a:folHlink>
    </a:clrScheme>
    <a:fontScheme name="Prompt Ki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Écrire un bon prompt en 4 éléments</dc:title>
  <dc:subject>PptxGenJS Presentation</dc:subject>
  <dc:creator>Mélissa</dc:creator>
  <cp:lastModifiedBy>Mélissa</cp:lastModifiedBy>
  <cp:revision>1</cp:revision>
  <dcterms:created xsi:type="dcterms:W3CDTF">2026-10-29T10:55:51Z</dcterms:created>
  <dcterms:modified xsi:type="dcterms:W3CDTF">2026-10-29T10:55:51Z</dcterms:modified>
</cp:coreProperties>
</file>